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Roboto Slab" panose="020B0604020202020204" charset="0"/>
      <p:regular r:id="rId13"/>
    </p:embeddedFont>
    <p:embeddedFont>
      <p:font typeface="Roboto" panose="020B0604020202020204" charset="0"/>
      <p:regular r:id="rId14"/>
    </p:embeddedFont>
    <p:embeddedFont>
      <p:font typeface="Calibri" panose="020F0502020204030204" pitchFamily="34"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2" d="100"/>
          <a:sy n="62" d="100"/>
        </p:scale>
        <p:origin x="33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4718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5.svg"/><Relationship Id="rId5" Type="http://schemas.openxmlformats.org/officeDocument/2006/relationships/image" Target="../media/image-6-3.sv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7-7.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7-5.svg"/><Relationship Id="rId5" Type="http://schemas.openxmlformats.org/officeDocument/2006/relationships/image" Target="../media/image-7-3.svg"/><Relationship Id="rId10" Type="http://schemas.openxmlformats.org/officeDocument/2006/relationships/image" Target="../media/image12.png"/><Relationship Id="rId4" Type="http://schemas.openxmlformats.org/officeDocument/2006/relationships/image" Target="../media/image10.png"/><Relationship Id="rId9" Type="http://schemas.openxmlformats.org/officeDocument/2006/relationships/image" Target="../media/image-7-9.sv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8-5.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0.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8-9.sv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0-7.sv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0-5.svg"/><Relationship Id="rId5" Type="http://schemas.openxmlformats.org/officeDocument/2006/relationships/image" Target="../media/image-10-3.sv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147173"/>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Production Flask Prediction API — Project Overview</a:t>
            </a:r>
            <a:endParaRPr lang="en-US" sz="4450" dirty="0"/>
          </a:p>
        </p:txBody>
      </p:sp>
      <p:sp>
        <p:nvSpPr>
          <p:cNvPr id="4" name="Text 1"/>
          <p:cNvSpPr/>
          <p:nvPr/>
        </p:nvSpPr>
        <p:spPr>
          <a:xfrm>
            <a:off x="6280190" y="3904893"/>
            <a:ext cx="7556421" cy="217741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Goal: single POST /api/predict that accepts 11 farm data fields and returns a recommendation (Low/Medium/High), per-class probabilities, confidence score, water amount, best irrigation time, and an optional warning. Model artifacts (RandomForest + scaler + encoders + feature list + mapping) are provided as pickles in model_artifacts/. Tech stack: Python, Flask, Flask‑CORS, scikit‑learn, pandas, numpy, joblib, python‑dotenv.</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205984"/>
            <a:ext cx="4967168" cy="566976"/>
          </a:xfrm>
          <a:prstGeom prst="rect">
            <a:avLst/>
          </a:prstGeom>
          <a:noFill/>
          <a:ln/>
        </p:spPr>
        <p:txBody>
          <a:bodyPr wrap="none" lIns="0" tIns="0" rIns="0" bIns="0" rtlCol="0" anchor="t"/>
          <a:lstStyle/>
          <a:p>
            <a:pPr marL="0" indent="0" algn="l">
              <a:lnSpc>
                <a:spcPts val="4450"/>
              </a:lnSpc>
              <a:buNone/>
            </a:pPr>
            <a:r>
              <a:rPr lang="en-US" sz="3550" dirty="0">
                <a:solidFill>
                  <a:srgbClr val="76B9FF"/>
                </a:solidFill>
                <a:latin typeface="Roboto Slab" pitchFamily="34" charset="0"/>
                <a:ea typeface="Roboto Slab" pitchFamily="34" charset="-122"/>
                <a:cs typeface="Roboto Slab" pitchFamily="34" charset="-120"/>
              </a:rPr>
              <a:t>Phase 1 — Project Setup</a:t>
            </a:r>
            <a:endParaRPr lang="en-US" sz="3550" dirty="0"/>
          </a:p>
        </p:txBody>
      </p:sp>
      <p:sp>
        <p:nvSpPr>
          <p:cNvPr id="4" name="Shape 1"/>
          <p:cNvSpPr/>
          <p:nvPr/>
        </p:nvSpPr>
        <p:spPr>
          <a:xfrm>
            <a:off x="793790" y="2113121"/>
            <a:ext cx="3664744" cy="2032754"/>
          </a:xfrm>
          <a:prstGeom prst="roundRect">
            <a:avLst>
              <a:gd name="adj" fmla="val 1674"/>
            </a:avLst>
          </a:prstGeom>
          <a:solidFill>
            <a:srgbClr val="3F4652"/>
          </a:solidFill>
          <a:ln/>
        </p:spPr>
      </p:sp>
      <p:sp>
        <p:nvSpPr>
          <p:cNvPr id="5" name="Text 2"/>
          <p:cNvSpPr/>
          <p:nvPr/>
        </p:nvSpPr>
        <p:spPr>
          <a:xfrm>
            <a:off x="1020604" y="233993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Repository</a:t>
            </a:r>
            <a:endParaRPr lang="en-US" sz="2200" dirty="0"/>
          </a:p>
        </p:txBody>
      </p:sp>
      <p:sp>
        <p:nvSpPr>
          <p:cNvPr id="6" name="Text 3"/>
          <p:cNvSpPr/>
          <p:nvPr/>
        </p:nvSpPr>
        <p:spPr>
          <a:xfrm>
            <a:off x="1020604" y="2830354"/>
            <a:ext cx="3211116" cy="1088708"/>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model_artifacts/, logs/, .env, .gitignore, requirements.txt, app.py, README.md</a:t>
            </a:r>
            <a:endParaRPr lang="en-US" sz="1750" dirty="0"/>
          </a:p>
        </p:txBody>
      </p:sp>
      <p:sp>
        <p:nvSpPr>
          <p:cNvPr id="7" name="Shape 4"/>
          <p:cNvSpPr/>
          <p:nvPr/>
        </p:nvSpPr>
        <p:spPr>
          <a:xfrm>
            <a:off x="4685348" y="2113121"/>
            <a:ext cx="3664863" cy="2032754"/>
          </a:xfrm>
          <a:prstGeom prst="roundRect">
            <a:avLst>
              <a:gd name="adj" fmla="val 1674"/>
            </a:avLst>
          </a:prstGeom>
          <a:solidFill>
            <a:srgbClr val="3F4652"/>
          </a:solidFill>
          <a:ln/>
        </p:spPr>
      </p:sp>
      <p:sp>
        <p:nvSpPr>
          <p:cNvPr id="8" name="Text 5"/>
          <p:cNvSpPr/>
          <p:nvPr/>
        </p:nvSpPr>
        <p:spPr>
          <a:xfrm>
            <a:off x="4912162" y="233993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Environment</a:t>
            </a:r>
            <a:endParaRPr lang="en-US" sz="2200" dirty="0"/>
          </a:p>
        </p:txBody>
      </p:sp>
      <p:sp>
        <p:nvSpPr>
          <p:cNvPr id="9" name="Text 6"/>
          <p:cNvSpPr/>
          <p:nvPr/>
        </p:nvSpPr>
        <p:spPr>
          <a:xfrm>
            <a:off x="4912162" y="2830354"/>
            <a:ext cx="3211235" cy="1088708"/>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Virtualenv, pinned dependencies, tests to verify import and env loading</a:t>
            </a:r>
            <a:endParaRPr lang="en-US" sz="1750" dirty="0"/>
          </a:p>
        </p:txBody>
      </p:sp>
      <p:sp>
        <p:nvSpPr>
          <p:cNvPr id="10" name="Shape 7"/>
          <p:cNvSpPr/>
          <p:nvPr/>
        </p:nvSpPr>
        <p:spPr>
          <a:xfrm>
            <a:off x="793790" y="4372689"/>
            <a:ext cx="7556421" cy="1669852"/>
          </a:xfrm>
          <a:prstGeom prst="roundRect">
            <a:avLst>
              <a:gd name="adj" fmla="val 2038"/>
            </a:avLst>
          </a:prstGeom>
          <a:solidFill>
            <a:srgbClr val="3F4652"/>
          </a:solidFill>
          <a:ln/>
        </p:spPr>
      </p:sp>
      <p:sp>
        <p:nvSpPr>
          <p:cNvPr id="11" name="Text 8"/>
          <p:cNvSpPr/>
          <p:nvPr/>
        </p:nvSpPr>
        <p:spPr>
          <a:xfrm>
            <a:off x="1020604" y="459950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Configuration</a:t>
            </a:r>
            <a:endParaRPr lang="en-US" sz="2200" dirty="0"/>
          </a:p>
        </p:txBody>
      </p:sp>
      <p:sp>
        <p:nvSpPr>
          <p:cNvPr id="12" name="Text 9"/>
          <p:cNvSpPr/>
          <p:nvPr/>
        </p:nvSpPr>
        <p:spPr>
          <a:xfrm>
            <a:off x="1020604" y="5089922"/>
            <a:ext cx="7102793"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Env vars: MODEL_PATH, FLASK_ENV, CORS_ORIGINS, CONF_THRESHOLD, LOG_LEVEL</a:t>
            </a:r>
            <a:endParaRPr lang="en-US" sz="1750" dirty="0"/>
          </a:p>
        </p:txBody>
      </p:sp>
      <p:sp>
        <p:nvSpPr>
          <p:cNvPr id="13" name="Text 10"/>
          <p:cNvSpPr/>
          <p:nvPr/>
        </p:nvSpPr>
        <p:spPr>
          <a:xfrm>
            <a:off x="793790" y="6297692"/>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Verified environment loading with a lightweight test script that imports artifacts and prints model meta.</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93790" y="1311354"/>
            <a:ext cx="4205168" cy="5606891"/>
          </a:xfrm>
          <a:prstGeom prst="rect">
            <a:avLst/>
          </a:prstGeom>
        </p:spPr>
      </p:pic>
      <p:sp>
        <p:nvSpPr>
          <p:cNvPr id="3" name="Text 0"/>
          <p:cNvSpPr/>
          <p:nvPr/>
        </p:nvSpPr>
        <p:spPr>
          <a:xfrm>
            <a:off x="5559981" y="2107644"/>
            <a:ext cx="5568791" cy="566976"/>
          </a:xfrm>
          <a:prstGeom prst="rect">
            <a:avLst/>
          </a:prstGeom>
          <a:noFill/>
          <a:ln/>
        </p:spPr>
        <p:txBody>
          <a:bodyPr wrap="none" lIns="0" tIns="0" rIns="0" bIns="0" rtlCol="0" anchor="t"/>
          <a:lstStyle/>
          <a:p>
            <a:pPr marL="0" indent="0" algn="l">
              <a:lnSpc>
                <a:spcPts val="4450"/>
              </a:lnSpc>
              <a:buNone/>
            </a:pPr>
            <a:r>
              <a:rPr lang="en-US" sz="3550" dirty="0">
                <a:solidFill>
                  <a:srgbClr val="76B9FF"/>
                </a:solidFill>
                <a:latin typeface="Roboto Slab" pitchFamily="34" charset="0"/>
                <a:ea typeface="Roboto Slab" pitchFamily="34" charset="-122"/>
                <a:cs typeface="Roboto Slab" pitchFamily="34" charset="-120"/>
              </a:rPr>
              <a:t>Phase 2 — Model Artifacts</a:t>
            </a:r>
            <a:endParaRPr lang="en-US" sz="3550" dirty="0"/>
          </a:p>
        </p:txBody>
      </p:sp>
      <p:sp>
        <p:nvSpPr>
          <p:cNvPr id="4" name="Text 1"/>
          <p:cNvSpPr/>
          <p:nvPr/>
        </p:nvSpPr>
        <p:spPr>
          <a:xfrm>
            <a:off x="5559981" y="2901434"/>
            <a:ext cx="8284131" cy="1610201"/>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Loaded five pickles: model, scaler, label_encoders, feature_cols, target_mapping</a:t>
            </a:r>
            <a:endParaRPr lang="en-US" sz="1750" dirty="0"/>
          </a:p>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Confirmed model type RandomForestClassifier and feature count = 20</a:t>
            </a:r>
            <a:endParaRPr lang="en-US" sz="1750" dirty="0"/>
          </a:p>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Noted scikit‑learn version warnings (documented but non‑blocking)</a:t>
            </a:r>
            <a:endParaRPr lang="en-US" sz="1750" dirty="0"/>
          </a:p>
        </p:txBody>
      </p:sp>
      <p:sp>
        <p:nvSpPr>
          <p:cNvPr id="5" name="Shape 2"/>
          <p:cNvSpPr/>
          <p:nvPr/>
        </p:nvSpPr>
        <p:spPr>
          <a:xfrm>
            <a:off x="5559981" y="4766786"/>
            <a:ext cx="8284131" cy="1326713"/>
          </a:xfrm>
          <a:prstGeom prst="roundRect">
            <a:avLst>
              <a:gd name="adj" fmla="val 2565"/>
            </a:avLst>
          </a:prstGeom>
          <a:solidFill>
            <a:srgbClr val="082545"/>
          </a:solidFill>
          <a:ln/>
        </p:spPr>
      </p:sp>
      <p:pic>
        <p:nvPicPr>
          <p:cNvPr id="6" name="Image 1" descr="preencoded.png"/>
          <p:cNvPicPr>
            <a:picLocks noChangeAspect="1"/>
          </p:cNvPicPr>
          <p:nvPr/>
        </p:nvPicPr>
        <p:blipFill>
          <a:blip r:embed="rId4"/>
          <a:stretch>
            <a:fillRect/>
          </a:stretch>
        </p:blipFill>
        <p:spPr>
          <a:xfrm>
            <a:off x="5786795" y="5110877"/>
            <a:ext cx="283488" cy="226814"/>
          </a:xfrm>
          <a:prstGeom prst="rect">
            <a:avLst/>
          </a:prstGeom>
        </p:spPr>
      </p:pic>
      <p:sp>
        <p:nvSpPr>
          <p:cNvPr id="7" name="Text 3"/>
          <p:cNvSpPr/>
          <p:nvPr/>
        </p:nvSpPr>
        <p:spPr>
          <a:xfrm>
            <a:off x="6297097" y="5050274"/>
            <a:ext cx="7320201" cy="725805"/>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Roboto" pitchFamily="34" charset="0"/>
                <a:ea typeface="Roboto" pitchFamily="34" charset="-122"/>
                <a:cs typeface="Roboto" pitchFamily="34" charset="-120"/>
              </a:rPr>
              <a:t>Ensure artifact integrity checks (hash/mtime) before service start to avoid silent mismatches.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123837"/>
            <a:ext cx="5660231" cy="566976"/>
          </a:xfrm>
          <a:prstGeom prst="rect">
            <a:avLst/>
          </a:prstGeom>
          <a:noFill/>
          <a:ln/>
        </p:spPr>
        <p:txBody>
          <a:bodyPr wrap="none" lIns="0" tIns="0" rIns="0" bIns="0" rtlCol="0" anchor="t"/>
          <a:lstStyle/>
          <a:p>
            <a:pPr marL="0" indent="0" algn="l">
              <a:lnSpc>
                <a:spcPts val="4450"/>
              </a:lnSpc>
              <a:buNone/>
            </a:pPr>
            <a:r>
              <a:rPr lang="en-US" sz="3550" dirty="0">
                <a:solidFill>
                  <a:srgbClr val="76B9FF"/>
                </a:solidFill>
                <a:latin typeface="Roboto Slab" pitchFamily="34" charset="0"/>
                <a:ea typeface="Roboto Slab" pitchFamily="34" charset="-122"/>
                <a:cs typeface="Roboto Slab" pitchFamily="34" charset="-120"/>
              </a:rPr>
              <a:t>Phase 3 — Basic Flask App</a:t>
            </a:r>
            <a:endParaRPr lang="en-US" sz="3550" dirty="0"/>
          </a:p>
        </p:txBody>
      </p:sp>
      <p:sp>
        <p:nvSpPr>
          <p:cNvPr id="4" name="Text 1"/>
          <p:cNvSpPr/>
          <p:nvPr/>
        </p:nvSpPr>
        <p:spPr>
          <a:xfrm>
            <a:off x="6280190" y="3030974"/>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Implemented /api/health returning model status and feature count. Enabled CORS for http://localhost:5173. Added placeholder /api/predict that echoes input for early frontend integration tests. Verified server lifecycle and health responses.</a:t>
            </a:r>
            <a:endParaRPr lang="en-US" sz="1750" dirty="0"/>
          </a:p>
        </p:txBody>
      </p:sp>
      <p:sp>
        <p:nvSpPr>
          <p:cNvPr id="5" name="Shape 2"/>
          <p:cNvSpPr/>
          <p:nvPr/>
        </p:nvSpPr>
        <p:spPr>
          <a:xfrm>
            <a:off x="6280190" y="4737735"/>
            <a:ext cx="7556421" cy="1367909"/>
          </a:xfrm>
          <a:prstGeom prst="roundRect">
            <a:avLst>
              <a:gd name="adj" fmla="val 2487"/>
            </a:avLst>
          </a:prstGeom>
          <a:solidFill>
            <a:srgbClr val="202733"/>
          </a:solidFill>
          <a:ln w="30480">
            <a:solidFill>
              <a:srgbClr val="585F6B"/>
            </a:solidFill>
            <a:prstDash val="solid"/>
          </a:ln>
        </p:spPr>
      </p:sp>
      <p:sp>
        <p:nvSpPr>
          <p:cNvPr id="6" name="Text 3"/>
          <p:cNvSpPr/>
          <p:nvPr/>
        </p:nvSpPr>
        <p:spPr>
          <a:xfrm>
            <a:off x="6537484" y="499502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Dev ergonomics</a:t>
            </a:r>
            <a:endParaRPr lang="en-US" sz="2200" dirty="0"/>
          </a:p>
        </p:txBody>
      </p:sp>
      <p:sp>
        <p:nvSpPr>
          <p:cNvPr id="7" name="Text 4"/>
          <p:cNvSpPr/>
          <p:nvPr/>
        </p:nvSpPr>
        <p:spPr>
          <a:xfrm>
            <a:off x="6537484" y="5485448"/>
            <a:ext cx="7041832"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Auto‑reload, structured logging, clear error responses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93790" y="1069062"/>
            <a:ext cx="8284131" cy="4619982"/>
          </a:xfrm>
          <a:prstGeom prst="rect">
            <a:avLst/>
          </a:prstGeom>
        </p:spPr>
      </p:pic>
      <p:sp>
        <p:nvSpPr>
          <p:cNvPr id="3" name="Text 0"/>
          <p:cNvSpPr/>
          <p:nvPr/>
        </p:nvSpPr>
        <p:spPr>
          <a:xfrm>
            <a:off x="9638943" y="1439823"/>
            <a:ext cx="4205168" cy="1133951"/>
          </a:xfrm>
          <a:prstGeom prst="rect">
            <a:avLst/>
          </a:prstGeom>
          <a:noFill/>
          <a:ln/>
        </p:spPr>
        <p:txBody>
          <a:bodyPr wrap="square" lIns="0" tIns="0" rIns="0" bIns="0" rtlCol="0" anchor="t"/>
          <a:lstStyle/>
          <a:p>
            <a:pPr marL="0" indent="0" algn="l">
              <a:lnSpc>
                <a:spcPts val="4450"/>
              </a:lnSpc>
              <a:buNone/>
            </a:pPr>
            <a:r>
              <a:rPr lang="en-US" sz="3550" dirty="0">
                <a:solidFill>
                  <a:srgbClr val="76B9FF"/>
                </a:solidFill>
                <a:latin typeface="Roboto Slab" pitchFamily="34" charset="0"/>
                <a:ea typeface="Roboto Slab" pitchFamily="34" charset="-122"/>
                <a:cs typeface="Roboto Slab" pitchFamily="34" charset="-120"/>
              </a:rPr>
              <a:t>Phase 4 — Input Validation</a:t>
            </a:r>
            <a:endParaRPr lang="en-US" sz="3550" dirty="0"/>
          </a:p>
        </p:txBody>
      </p:sp>
      <p:sp>
        <p:nvSpPr>
          <p:cNvPr id="4" name="Text 1"/>
          <p:cNvSpPr/>
          <p:nvPr/>
        </p:nvSpPr>
        <p:spPr>
          <a:xfrm>
            <a:off x="9638943" y="2800588"/>
            <a:ext cx="4205168" cy="2540318"/>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Defined 11 required fields with explicit bounds and categorical sets per frontend spec. Implemented validate_input() to verify presence, type, numeric ranges, and allowed categories. Returns structured 400 JSON: { field, message } to aid rapid debugging.</a:t>
            </a:r>
            <a:endParaRPr lang="en-US" sz="1750" dirty="0"/>
          </a:p>
        </p:txBody>
      </p:sp>
      <p:pic>
        <p:nvPicPr>
          <p:cNvPr id="5" name="Image 1" descr="preencoded.png"/>
          <p:cNvPicPr>
            <a:picLocks noChangeAspect="1"/>
          </p:cNvPicPr>
          <p:nvPr/>
        </p:nvPicPr>
        <p:blipFill>
          <a:blip r:embed="rId4"/>
          <a:stretch>
            <a:fillRect/>
          </a:stretch>
        </p:blipFill>
        <p:spPr>
          <a:xfrm>
            <a:off x="793790" y="6319838"/>
            <a:ext cx="113348" cy="113348"/>
          </a:xfrm>
          <a:prstGeom prst="rect">
            <a:avLst/>
          </a:prstGeom>
        </p:spPr>
      </p:pic>
      <p:sp>
        <p:nvSpPr>
          <p:cNvPr id="6" name="Text 2"/>
          <p:cNvSpPr/>
          <p:nvPr/>
        </p:nvSpPr>
        <p:spPr>
          <a:xfrm>
            <a:off x="1133951" y="619934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Edge cases handled</a:t>
            </a:r>
            <a:endParaRPr lang="en-US" sz="2200" dirty="0"/>
          </a:p>
        </p:txBody>
      </p:sp>
      <p:sp>
        <p:nvSpPr>
          <p:cNvPr id="7" name="Text 3"/>
          <p:cNvSpPr/>
          <p:nvPr/>
        </p:nvSpPr>
        <p:spPr>
          <a:xfrm>
            <a:off x="1133951" y="6689765"/>
            <a:ext cx="6039445"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Missing fields, out‑of‑range numbers, wrong types, invalid categories</a:t>
            </a:r>
            <a:endParaRPr lang="en-US" sz="1750" dirty="0"/>
          </a:p>
        </p:txBody>
      </p:sp>
      <p:pic>
        <p:nvPicPr>
          <p:cNvPr id="8" name="Image 2" descr="preencoded.png"/>
          <p:cNvPicPr>
            <a:picLocks noChangeAspect="1"/>
          </p:cNvPicPr>
          <p:nvPr/>
        </p:nvPicPr>
        <p:blipFill>
          <a:blip r:embed="rId4"/>
          <a:stretch>
            <a:fillRect/>
          </a:stretch>
        </p:blipFill>
        <p:spPr>
          <a:xfrm>
            <a:off x="7456884" y="6319838"/>
            <a:ext cx="113348" cy="113348"/>
          </a:xfrm>
          <a:prstGeom prst="rect">
            <a:avLst/>
          </a:prstGeom>
        </p:spPr>
      </p:pic>
      <p:sp>
        <p:nvSpPr>
          <p:cNvPr id="9" name="Text 4"/>
          <p:cNvSpPr/>
          <p:nvPr/>
        </p:nvSpPr>
        <p:spPr>
          <a:xfrm>
            <a:off x="7797046" y="619934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Testing</a:t>
            </a:r>
            <a:endParaRPr lang="en-US" sz="2200" dirty="0"/>
          </a:p>
        </p:txBody>
      </p:sp>
      <p:sp>
        <p:nvSpPr>
          <p:cNvPr id="10" name="Text 5"/>
          <p:cNvSpPr/>
          <p:nvPr/>
        </p:nvSpPr>
        <p:spPr>
          <a:xfrm>
            <a:off x="7797046" y="6689765"/>
            <a:ext cx="6039564"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curl/PowerShell checks for each error case — responses validated</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836777"/>
            <a:ext cx="6580108" cy="566976"/>
          </a:xfrm>
          <a:prstGeom prst="rect">
            <a:avLst/>
          </a:prstGeom>
          <a:noFill/>
          <a:ln/>
        </p:spPr>
        <p:txBody>
          <a:bodyPr wrap="none" lIns="0" tIns="0" rIns="0" bIns="0" rtlCol="0" anchor="t"/>
          <a:lstStyle/>
          <a:p>
            <a:pPr marL="0" indent="0" algn="l">
              <a:lnSpc>
                <a:spcPts val="4450"/>
              </a:lnSpc>
              <a:buNone/>
            </a:pPr>
            <a:r>
              <a:rPr lang="en-US" sz="3550" dirty="0">
                <a:solidFill>
                  <a:srgbClr val="76B9FF"/>
                </a:solidFill>
                <a:latin typeface="Roboto Slab" pitchFamily="34" charset="0"/>
                <a:ea typeface="Roboto Slab" pitchFamily="34" charset="-122"/>
                <a:cs typeface="Roboto Slab" pitchFamily="34" charset="-120"/>
              </a:rPr>
              <a:t>Phase 5 — Feature Engineering</a:t>
            </a:r>
            <a:endParaRPr lang="en-US" sz="3550" dirty="0"/>
          </a:p>
        </p:txBody>
      </p:sp>
      <p:sp>
        <p:nvSpPr>
          <p:cNvPr id="4" name="Text 1"/>
          <p:cNvSpPr/>
          <p:nvPr/>
        </p:nvSpPr>
        <p:spPr>
          <a:xfrm>
            <a:off x="793790" y="2743914"/>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Implemented required formulas exactly: Water_Stress_Index, ET_Proxy, Effective_Moisture, Irrigation_Deficit. Added five derived features expected by scaler/model and three categorical buckets: Rainfall_Category, Soil_Moisture_Category, Temp_Category. Included NaN/∞ guards on numeric columns.</a:t>
            </a:r>
            <a:endParaRPr lang="en-US" sz="175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793790" y="4813578"/>
            <a:ext cx="566976" cy="566976"/>
          </a:xfrm>
          <a:prstGeom prst="rect">
            <a:avLst/>
          </a:prstGeom>
        </p:spPr>
      </p:pic>
      <p:sp>
        <p:nvSpPr>
          <p:cNvPr id="6" name="Text 2"/>
          <p:cNvSpPr/>
          <p:nvPr/>
        </p:nvSpPr>
        <p:spPr>
          <a:xfrm>
            <a:off x="1644253" y="4813578"/>
            <a:ext cx="2785943"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Numeric guards</a:t>
            </a:r>
            <a:endParaRPr lang="en-US" sz="2200" dirty="0"/>
          </a:p>
        </p:txBody>
      </p:sp>
      <p:sp>
        <p:nvSpPr>
          <p:cNvPr id="7" name="Text 3"/>
          <p:cNvSpPr/>
          <p:nvPr/>
        </p:nvSpPr>
        <p:spPr>
          <a:xfrm>
            <a:off x="1644253" y="5303996"/>
            <a:ext cx="2785943" cy="1088708"/>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Clip ranges, replace inf with large sentinel, explicit NaN checks before scaling</a:t>
            </a:r>
            <a:endParaRPr lang="en-US" sz="1750" dirty="0"/>
          </a:p>
        </p:txBody>
      </p:sp>
      <p:pic>
        <p:nvPicPr>
          <p:cNvPr id="8" name="Image 2" descr="preencoded.png"/>
          <p:cNvPicPr>
            <a:picLocks noChangeAspect="1"/>
          </p:cNvPicPr>
          <p:nvPr/>
        </p:nvPicPr>
        <p:blipFill>
          <a:blip r:embed="rId4">
            <a:extLst>
              <a:ext uri="{96DAC541-7B7A-43D3-8B79-37D633B846F1}">
                <asvg:svgBlip xmlns:asvg="http://schemas.microsoft.com/office/drawing/2016/SVG/main" xmlns="" r:embed="rId6"/>
              </a:ext>
            </a:extLst>
          </a:blip>
          <a:stretch>
            <a:fillRect/>
          </a:stretch>
        </p:blipFill>
        <p:spPr>
          <a:xfrm>
            <a:off x="4713684" y="4813578"/>
            <a:ext cx="566976" cy="566976"/>
          </a:xfrm>
          <a:prstGeom prst="rect">
            <a:avLst/>
          </a:prstGeom>
        </p:spPr>
      </p:pic>
      <p:sp>
        <p:nvSpPr>
          <p:cNvPr id="9" name="Text 4"/>
          <p:cNvSpPr/>
          <p:nvPr/>
        </p:nvSpPr>
        <p:spPr>
          <a:xfrm>
            <a:off x="5564148" y="4813578"/>
            <a:ext cx="2786063"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Categorical buckets</a:t>
            </a:r>
            <a:endParaRPr lang="en-US" sz="2200" dirty="0"/>
          </a:p>
        </p:txBody>
      </p:sp>
      <p:sp>
        <p:nvSpPr>
          <p:cNvPr id="10" name="Text 5"/>
          <p:cNvSpPr/>
          <p:nvPr/>
        </p:nvSpPr>
        <p:spPr>
          <a:xfrm>
            <a:off x="5564148" y="5303996"/>
            <a:ext cx="2786063" cy="1088708"/>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Discrete labels to improve model generalisation and align with encoders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72597" y="2216706"/>
            <a:ext cx="8294489" cy="3796070"/>
          </a:xfrm>
          <a:prstGeom prst="rect">
            <a:avLst/>
          </a:prstGeom>
        </p:spPr>
      </p:pic>
      <p:pic>
        <p:nvPicPr>
          <p:cNvPr id="3" name="Image 1"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7598827" y="3164482"/>
            <a:ext cx="533291" cy="533291"/>
          </a:xfrm>
          <a:prstGeom prst="rect">
            <a:avLst/>
          </a:prstGeom>
        </p:spPr>
      </p:pic>
      <p:sp>
        <p:nvSpPr>
          <p:cNvPr id="4" name="Text 0"/>
          <p:cNvSpPr/>
          <p:nvPr/>
        </p:nvSpPr>
        <p:spPr>
          <a:xfrm>
            <a:off x="7123698" y="4961340"/>
            <a:ext cx="1557210" cy="599952"/>
          </a:xfrm>
          <a:prstGeom prst="rect">
            <a:avLst/>
          </a:prstGeom>
          <a:noFill/>
          <a:ln/>
        </p:spPr>
        <p:txBody>
          <a:bodyPr wrap="square" lIns="0" tIns="0" rIns="0" bIns="0" rtlCol="0" anchor="t"/>
          <a:lstStyle/>
          <a:p>
            <a:pPr marL="0" indent="0" algn="ctr">
              <a:lnSpc>
                <a:spcPts val="2350"/>
              </a:lnSpc>
              <a:buNone/>
            </a:pPr>
            <a:r>
              <a:rPr lang="en-US" sz="1850" dirty="0">
                <a:solidFill>
                  <a:srgbClr val="D6E5EF"/>
                </a:solidFill>
                <a:latin typeface="Roboto Slab" pitchFamily="34" charset="0"/>
                <a:ea typeface="Roboto Slab" pitchFamily="34" charset="-122"/>
                <a:cs typeface="Roboto Slab" pitchFamily="34" charset="-120"/>
              </a:rPr>
              <a:t>Reintegrate Vector</a:t>
            </a:r>
            <a:endParaRPr lang="en-US" sz="1850" dirty="0"/>
          </a:p>
        </p:txBody>
      </p:sp>
      <p:pic>
        <p:nvPicPr>
          <p:cNvPr id="5" name="Image 2" descr="preencoded.png"/>
          <p:cNvPicPr>
            <a:picLocks noChangeAspect="1"/>
          </p:cNvPicPr>
          <p:nvPr/>
        </p:nvPicPr>
        <p:blipFill>
          <a:blip r:embed="rId4">
            <a:extLst>
              <a:ext uri="{96DAC541-7B7A-43D3-8B79-37D633B846F1}">
                <asvg:svgBlip xmlns:asvg="http://schemas.microsoft.com/office/drawing/2016/SVG/main" xmlns="" r:embed="rId6"/>
              </a:ext>
            </a:extLst>
          </a:blip>
          <a:stretch>
            <a:fillRect/>
          </a:stretch>
        </p:blipFill>
        <p:spPr>
          <a:xfrm>
            <a:off x="5646482" y="3165482"/>
            <a:ext cx="533291" cy="533291"/>
          </a:xfrm>
          <a:prstGeom prst="rect">
            <a:avLst/>
          </a:prstGeom>
        </p:spPr>
      </p:pic>
      <p:sp>
        <p:nvSpPr>
          <p:cNvPr id="6" name="Text 1"/>
          <p:cNvSpPr/>
          <p:nvPr/>
        </p:nvSpPr>
        <p:spPr>
          <a:xfrm>
            <a:off x="5161187" y="4961340"/>
            <a:ext cx="1557210" cy="599952"/>
          </a:xfrm>
          <a:prstGeom prst="rect">
            <a:avLst/>
          </a:prstGeom>
          <a:noFill/>
          <a:ln/>
        </p:spPr>
        <p:txBody>
          <a:bodyPr wrap="square" lIns="0" tIns="0" rIns="0" bIns="0" rtlCol="0" anchor="t"/>
          <a:lstStyle/>
          <a:p>
            <a:pPr marL="0" indent="0" algn="ctr">
              <a:lnSpc>
                <a:spcPts val="2350"/>
              </a:lnSpc>
              <a:buNone/>
            </a:pPr>
            <a:r>
              <a:rPr lang="en-US" sz="1850" dirty="0">
                <a:solidFill>
                  <a:srgbClr val="D6E5EF"/>
                </a:solidFill>
                <a:latin typeface="Roboto Slab" pitchFamily="34" charset="0"/>
                <a:ea typeface="Roboto Slab" pitchFamily="34" charset="-122"/>
                <a:cs typeface="Roboto Slab" pitchFamily="34" charset="-120"/>
              </a:rPr>
              <a:t>Scale 12 Features</a:t>
            </a:r>
            <a:endParaRPr lang="en-US" sz="1850" dirty="0"/>
          </a:p>
        </p:txBody>
      </p:sp>
      <p:pic>
        <p:nvPicPr>
          <p:cNvPr id="7" name="Image 3" descr="preencoded.png"/>
          <p:cNvPicPr>
            <a:picLocks noChangeAspect="1"/>
          </p:cNvPicPr>
          <p:nvPr/>
        </p:nvPicPr>
        <p:blipFill>
          <a:blip r:embed="rId4">
            <a:extLst>
              <a:ext uri="{96DAC541-7B7A-43D3-8B79-37D633B846F1}">
                <asvg:svgBlip xmlns:asvg="http://schemas.microsoft.com/office/drawing/2016/SVG/main" xmlns="" r:embed="rId7"/>
              </a:ext>
            </a:extLst>
          </a:blip>
          <a:stretch>
            <a:fillRect/>
          </a:stretch>
        </p:blipFill>
        <p:spPr>
          <a:xfrm>
            <a:off x="3694637" y="3165482"/>
            <a:ext cx="533291" cy="533291"/>
          </a:xfrm>
          <a:prstGeom prst="rect">
            <a:avLst/>
          </a:prstGeom>
        </p:spPr>
      </p:pic>
      <p:sp>
        <p:nvSpPr>
          <p:cNvPr id="8" name="Text 2"/>
          <p:cNvSpPr/>
          <p:nvPr/>
        </p:nvSpPr>
        <p:spPr>
          <a:xfrm>
            <a:off x="3209342" y="4961340"/>
            <a:ext cx="1557210" cy="599952"/>
          </a:xfrm>
          <a:prstGeom prst="rect">
            <a:avLst/>
          </a:prstGeom>
          <a:noFill/>
          <a:ln/>
        </p:spPr>
        <p:txBody>
          <a:bodyPr wrap="square" lIns="0" tIns="0" rIns="0" bIns="0" rtlCol="0" anchor="t"/>
          <a:lstStyle/>
          <a:p>
            <a:pPr marL="0" indent="0" algn="ctr">
              <a:lnSpc>
                <a:spcPts val="2350"/>
              </a:lnSpc>
              <a:buNone/>
            </a:pPr>
            <a:r>
              <a:rPr lang="en-US" sz="1850" dirty="0">
                <a:solidFill>
                  <a:srgbClr val="D6E5EF"/>
                </a:solidFill>
                <a:latin typeface="Roboto Slab" pitchFamily="34" charset="0"/>
                <a:ea typeface="Roboto Slab" pitchFamily="34" charset="-122"/>
                <a:cs typeface="Roboto Slab" pitchFamily="34" charset="-120"/>
              </a:rPr>
              <a:t>Align Features</a:t>
            </a:r>
            <a:endParaRPr lang="en-US" sz="1850" dirty="0"/>
          </a:p>
        </p:txBody>
      </p:sp>
      <p:pic>
        <p:nvPicPr>
          <p:cNvPr id="9" name="Image 4" descr="preencoded.png"/>
          <p:cNvPicPr>
            <a:picLocks noChangeAspect="1"/>
          </p:cNvPicPr>
          <p:nvPr/>
        </p:nvPicPr>
        <p:blipFill>
          <a:blip r:embed="rId4">
            <a:extLst>
              <a:ext uri="{96DAC541-7B7A-43D3-8B79-37D633B846F1}">
                <asvg:svgBlip xmlns:asvg="http://schemas.microsoft.com/office/drawing/2016/SVG/main" xmlns="" r:embed="rId9"/>
              </a:ext>
            </a:extLst>
          </a:blip>
          <a:stretch>
            <a:fillRect/>
          </a:stretch>
        </p:blipFill>
        <p:spPr>
          <a:xfrm>
            <a:off x="1732126" y="3165482"/>
            <a:ext cx="533291" cy="533291"/>
          </a:xfrm>
          <a:prstGeom prst="rect">
            <a:avLst/>
          </a:prstGeom>
        </p:spPr>
      </p:pic>
      <p:sp>
        <p:nvSpPr>
          <p:cNvPr id="10" name="Text 3"/>
          <p:cNvSpPr/>
          <p:nvPr/>
        </p:nvSpPr>
        <p:spPr>
          <a:xfrm>
            <a:off x="1214834" y="5111328"/>
            <a:ext cx="1557210" cy="299976"/>
          </a:xfrm>
          <a:prstGeom prst="rect">
            <a:avLst/>
          </a:prstGeom>
          <a:noFill/>
          <a:ln/>
        </p:spPr>
        <p:txBody>
          <a:bodyPr wrap="none" lIns="0" tIns="0" rIns="0" bIns="0" rtlCol="0" anchor="t"/>
          <a:lstStyle/>
          <a:p>
            <a:pPr marL="0" indent="0" algn="ctr">
              <a:lnSpc>
                <a:spcPts val="2350"/>
              </a:lnSpc>
              <a:buNone/>
            </a:pPr>
            <a:r>
              <a:rPr lang="en-US" sz="1850" dirty="0">
                <a:solidFill>
                  <a:srgbClr val="D6E5EF"/>
                </a:solidFill>
                <a:latin typeface="Roboto Slab" pitchFamily="34" charset="0"/>
                <a:ea typeface="Roboto Slab" pitchFamily="34" charset="-122"/>
                <a:cs typeface="Roboto Slab" pitchFamily="34" charset="-120"/>
              </a:rPr>
              <a:t>Label Encode</a:t>
            </a:r>
            <a:endParaRPr lang="en-US" sz="1850" dirty="0"/>
          </a:p>
        </p:txBody>
      </p:sp>
      <p:sp>
        <p:nvSpPr>
          <p:cNvPr id="11" name="Text 4"/>
          <p:cNvSpPr/>
          <p:nvPr/>
        </p:nvSpPr>
        <p:spPr>
          <a:xfrm>
            <a:off x="9628108" y="1233607"/>
            <a:ext cx="4286250" cy="1033701"/>
          </a:xfrm>
          <a:prstGeom prst="rect">
            <a:avLst/>
          </a:prstGeom>
          <a:noFill/>
          <a:ln/>
        </p:spPr>
        <p:txBody>
          <a:bodyPr wrap="square" lIns="0" tIns="0" rIns="0" bIns="0" rtlCol="0" anchor="t"/>
          <a:lstStyle/>
          <a:p>
            <a:pPr marL="0" indent="0" algn="l">
              <a:lnSpc>
                <a:spcPts val="4050"/>
              </a:lnSpc>
              <a:buNone/>
            </a:pPr>
            <a:r>
              <a:rPr lang="en-US" sz="3250" dirty="0">
                <a:solidFill>
                  <a:srgbClr val="76B9FF"/>
                </a:solidFill>
                <a:latin typeface="Roboto Slab" pitchFamily="34" charset="0"/>
                <a:ea typeface="Roboto Slab" pitchFamily="34" charset="-122"/>
                <a:cs typeface="Roboto Slab" pitchFamily="34" charset="-120"/>
              </a:rPr>
              <a:t>Phase 6 — Prediction Pipeline</a:t>
            </a:r>
            <a:endParaRPr lang="en-US" sz="3250" dirty="0"/>
          </a:p>
        </p:txBody>
      </p:sp>
      <p:sp>
        <p:nvSpPr>
          <p:cNvPr id="12" name="Text 5"/>
          <p:cNvSpPr/>
          <p:nvPr/>
        </p:nvSpPr>
        <p:spPr>
          <a:xfrm>
            <a:off x="9628108" y="2455664"/>
            <a:ext cx="4286250" cy="2527935"/>
          </a:xfrm>
          <a:prstGeom prst="rect">
            <a:avLst/>
          </a:prstGeom>
          <a:noFill/>
          <a:ln/>
        </p:spPr>
        <p:txBody>
          <a:bodyPr wrap="square" lIns="0" tIns="0" rIns="0" bIns="0" rtlCol="0" anchor="t"/>
          <a:lstStyle/>
          <a:p>
            <a:pPr marL="0" indent="0" algn="l">
              <a:lnSpc>
                <a:spcPts val="2450"/>
              </a:lnSpc>
              <a:buNone/>
            </a:pPr>
            <a:r>
              <a:rPr lang="en-US" sz="1600" dirty="0">
                <a:solidFill>
                  <a:srgbClr val="D6E5EF"/>
                </a:solidFill>
                <a:latin typeface="Roboto" pitchFamily="34" charset="0"/>
                <a:ea typeface="Roboto" pitchFamily="34" charset="-122"/>
                <a:cs typeface="Roboto" pitchFamily="34" charset="-120"/>
              </a:rPr>
              <a:t>Label-encoded categorical columns using saved encoders; unseen labels fallback to 0. Aligned DataFrame to feature_cols: added missing as zeros, dropped extras, reordered to exact expected sequence. Scaler expects 12 numeric features — constructed subframe, scaled, then merged back. Categorical features remain unscaled.</a:t>
            </a:r>
            <a:endParaRPr lang="en-US" sz="1600" dirty="0"/>
          </a:p>
        </p:txBody>
      </p:sp>
      <p:sp>
        <p:nvSpPr>
          <p:cNvPr id="13" name="Shape 6"/>
          <p:cNvSpPr/>
          <p:nvPr/>
        </p:nvSpPr>
        <p:spPr>
          <a:xfrm>
            <a:off x="9628108" y="5195530"/>
            <a:ext cx="4286250" cy="1776889"/>
          </a:xfrm>
          <a:prstGeom prst="roundRect">
            <a:avLst>
              <a:gd name="adj" fmla="val 1745"/>
            </a:avLst>
          </a:prstGeom>
          <a:solidFill>
            <a:srgbClr val="082545"/>
          </a:solidFill>
          <a:ln/>
        </p:spPr>
      </p:sp>
      <p:pic>
        <p:nvPicPr>
          <p:cNvPr id="14" name="Image 5" descr="preencoded.png"/>
          <p:cNvPicPr>
            <a:picLocks noChangeAspect="1"/>
          </p:cNvPicPr>
          <p:nvPr/>
        </p:nvPicPr>
        <p:blipFill>
          <a:blip r:embed="rId10"/>
          <a:stretch>
            <a:fillRect/>
          </a:stretch>
        </p:blipFill>
        <p:spPr>
          <a:xfrm>
            <a:off x="9834801" y="5494020"/>
            <a:ext cx="258366" cy="206693"/>
          </a:xfrm>
          <a:prstGeom prst="rect">
            <a:avLst/>
          </a:prstGeom>
        </p:spPr>
      </p:pic>
      <p:sp>
        <p:nvSpPr>
          <p:cNvPr id="15" name="Text 7"/>
          <p:cNvSpPr/>
          <p:nvPr/>
        </p:nvSpPr>
        <p:spPr>
          <a:xfrm>
            <a:off x="10299859" y="5435560"/>
            <a:ext cx="3407807" cy="1263968"/>
          </a:xfrm>
          <a:prstGeom prst="rect">
            <a:avLst/>
          </a:prstGeom>
          <a:noFill/>
          <a:ln/>
        </p:spPr>
        <p:txBody>
          <a:bodyPr wrap="square" lIns="0" tIns="0" rIns="0" bIns="0" rtlCol="0" anchor="t"/>
          <a:lstStyle/>
          <a:p>
            <a:pPr marL="0" indent="0" algn="l">
              <a:lnSpc>
                <a:spcPts val="2450"/>
              </a:lnSpc>
              <a:buNone/>
            </a:pPr>
            <a:r>
              <a:rPr lang="en-US" sz="1600" dirty="0">
                <a:solidFill>
                  <a:srgbClr val="FFFFFF"/>
                </a:solidFill>
                <a:latin typeface="Roboto" pitchFamily="34" charset="0"/>
                <a:ea typeface="Roboto" pitchFamily="34" charset="-122"/>
                <a:cs typeface="Roboto" pitchFamily="34" charset="-120"/>
              </a:rPr>
              <a:t>Maintain a scaler_features_compl ete.txt and feature_cols.pkl in sync; add CI check to fail build on mismatch.</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254562"/>
            <a:ext cx="6801088" cy="566976"/>
          </a:xfrm>
          <a:prstGeom prst="rect">
            <a:avLst/>
          </a:prstGeom>
          <a:noFill/>
          <a:ln/>
        </p:spPr>
        <p:txBody>
          <a:bodyPr wrap="none" lIns="0" tIns="0" rIns="0" bIns="0" rtlCol="0" anchor="t"/>
          <a:lstStyle/>
          <a:p>
            <a:pPr marL="0" indent="0" algn="l">
              <a:lnSpc>
                <a:spcPts val="4450"/>
              </a:lnSpc>
              <a:buNone/>
            </a:pPr>
            <a:r>
              <a:rPr lang="en-US" sz="3550" dirty="0">
                <a:solidFill>
                  <a:srgbClr val="76B9FF"/>
                </a:solidFill>
                <a:latin typeface="Roboto Slab" pitchFamily="34" charset="0"/>
                <a:ea typeface="Roboto Slab" pitchFamily="34" charset="-122"/>
                <a:cs typeface="Roboto Slab" pitchFamily="34" charset="-120"/>
              </a:rPr>
              <a:t>Phase 7 — Response Formatting</a:t>
            </a:r>
            <a:endParaRPr lang="en-US" sz="3550" dirty="0"/>
          </a:p>
        </p:txBody>
      </p:sp>
      <p:sp>
        <p:nvSpPr>
          <p:cNvPr id="4" name="Text 1"/>
          <p:cNvSpPr/>
          <p:nvPr/>
        </p:nvSpPr>
        <p:spPr>
          <a:xfrm>
            <a:off x="793790" y="2161699"/>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Mapped numeric output to label via target_mapping with safe fallback. Computed confidence as max probability and normalised probabilities to sum to 1.0 (float safety). Added warning when confidence &lt; 0.70. Looked up water_amount and best_time by label and logged each prediction (timestamp, inputs, result, confidence).</a:t>
            </a:r>
            <a:endParaRPr lang="en-US" sz="1750" dirty="0"/>
          </a:p>
        </p:txBody>
      </p:sp>
      <p:sp>
        <p:nvSpPr>
          <p:cNvPr id="5" name="Shape 2"/>
          <p:cNvSpPr/>
          <p:nvPr/>
        </p:nvSpPr>
        <p:spPr>
          <a:xfrm>
            <a:off x="793790" y="4571524"/>
            <a:ext cx="3664744" cy="2403396"/>
          </a:xfrm>
          <a:prstGeom prst="roundRect">
            <a:avLst>
              <a:gd name="adj" fmla="val 6087"/>
            </a:avLst>
          </a:prstGeom>
          <a:solidFill>
            <a:srgbClr val="202733"/>
          </a:solidFill>
          <a:ln/>
        </p:spPr>
      </p:sp>
      <p:pic>
        <p:nvPicPr>
          <p:cNvPr id="6" name="Image 1" descr="preencoded.png"/>
          <p:cNvPicPr>
            <a:picLocks noChangeAspect="1"/>
          </p:cNvPicPr>
          <p:nvPr/>
        </p:nvPicPr>
        <p:blipFill>
          <a:blip r:embed="rId4"/>
          <a:stretch>
            <a:fillRect/>
          </a:stretch>
        </p:blipFill>
        <p:spPr>
          <a:xfrm>
            <a:off x="793790" y="4541044"/>
            <a:ext cx="3664744" cy="121920"/>
          </a:xfrm>
          <a:prstGeom prst="rect">
            <a:avLst/>
          </a:prstGeom>
        </p:spPr>
      </p:pic>
      <p:pic>
        <p:nvPicPr>
          <p:cNvPr id="7" name="Image 2" descr="preencoded.png"/>
          <p:cNvPicPr>
            <a:picLocks noChangeAspect="1"/>
          </p:cNvPicPr>
          <p:nvPr/>
        </p:nvPicPr>
        <p:blipFill>
          <a:blip r:embed="rId5"/>
          <a:stretch>
            <a:fillRect/>
          </a:stretch>
        </p:blipFill>
        <p:spPr>
          <a:xfrm>
            <a:off x="2285940" y="4231362"/>
            <a:ext cx="680442" cy="680442"/>
          </a:xfrm>
          <a:prstGeom prst="rect">
            <a:avLst/>
          </a:prstGeom>
        </p:spPr>
      </p:pic>
      <p:pic>
        <p:nvPicPr>
          <p:cNvPr id="8" name="Image 3" descr="preencoded.png"/>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2490014" y="4435435"/>
            <a:ext cx="272177" cy="272177"/>
          </a:xfrm>
          <a:prstGeom prst="rect">
            <a:avLst/>
          </a:prstGeom>
        </p:spPr>
      </p:pic>
      <p:sp>
        <p:nvSpPr>
          <p:cNvPr id="9" name="Text 3"/>
          <p:cNvSpPr/>
          <p:nvPr/>
        </p:nvSpPr>
        <p:spPr>
          <a:xfrm>
            <a:off x="1051084" y="513849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Robust mapping</a:t>
            </a:r>
            <a:endParaRPr lang="en-US" sz="2200" dirty="0"/>
          </a:p>
        </p:txBody>
      </p:sp>
      <p:sp>
        <p:nvSpPr>
          <p:cNvPr id="10" name="Text 4"/>
          <p:cNvSpPr/>
          <p:nvPr/>
        </p:nvSpPr>
        <p:spPr>
          <a:xfrm>
            <a:off x="1051084" y="5628918"/>
            <a:ext cx="3150156"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Fallbacks ensure API never returns raw numeric codes</a:t>
            </a:r>
            <a:endParaRPr lang="en-US" sz="1750" dirty="0"/>
          </a:p>
        </p:txBody>
      </p:sp>
      <p:sp>
        <p:nvSpPr>
          <p:cNvPr id="11" name="Shape 5"/>
          <p:cNvSpPr/>
          <p:nvPr/>
        </p:nvSpPr>
        <p:spPr>
          <a:xfrm>
            <a:off x="4685348" y="4571524"/>
            <a:ext cx="3664863" cy="2403396"/>
          </a:xfrm>
          <a:prstGeom prst="roundRect">
            <a:avLst>
              <a:gd name="adj" fmla="val 6087"/>
            </a:avLst>
          </a:prstGeom>
          <a:solidFill>
            <a:srgbClr val="202733"/>
          </a:solidFill>
          <a:ln/>
        </p:spPr>
      </p:sp>
      <p:pic>
        <p:nvPicPr>
          <p:cNvPr id="12" name="Image 4" descr="preencoded.png"/>
          <p:cNvPicPr>
            <a:picLocks noChangeAspect="1"/>
          </p:cNvPicPr>
          <p:nvPr/>
        </p:nvPicPr>
        <p:blipFill>
          <a:blip r:embed="rId4"/>
          <a:stretch>
            <a:fillRect/>
          </a:stretch>
        </p:blipFill>
        <p:spPr>
          <a:xfrm>
            <a:off x="4685348" y="4541044"/>
            <a:ext cx="3664863" cy="121920"/>
          </a:xfrm>
          <a:prstGeom prst="rect">
            <a:avLst/>
          </a:prstGeom>
        </p:spPr>
      </p:pic>
      <p:pic>
        <p:nvPicPr>
          <p:cNvPr id="13" name="Image 5" descr="preencoded.png"/>
          <p:cNvPicPr>
            <a:picLocks noChangeAspect="1"/>
          </p:cNvPicPr>
          <p:nvPr/>
        </p:nvPicPr>
        <p:blipFill>
          <a:blip r:embed="rId5"/>
          <a:stretch>
            <a:fillRect/>
          </a:stretch>
        </p:blipFill>
        <p:spPr>
          <a:xfrm>
            <a:off x="6177498" y="4231362"/>
            <a:ext cx="680442" cy="680442"/>
          </a:xfrm>
          <a:prstGeom prst="rect">
            <a:avLst/>
          </a:prstGeom>
        </p:spPr>
      </p:pic>
      <p:pic>
        <p:nvPicPr>
          <p:cNvPr id="14" name="Image 6" descr="preencoded.png"/>
          <p:cNvPicPr>
            <a:picLocks noChangeAspect="1"/>
          </p:cNvPicPr>
          <p:nvPr/>
        </p:nvPicPr>
        <p:blipFill>
          <a:blip r:embed="rId6">
            <a:extLst>
              <a:ext uri="{96DAC541-7B7A-43D3-8B79-37D633B846F1}">
                <asvg:svgBlip xmlns:asvg="http://schemas.microsoft.com/office/drawing/2016/SVG/main" xmlns="" r:embed="rId9"/>
              </a:ext>
            </a:extLst>
          </a:blip>
          <a:stretch>
            <a:fillRect/>
          </a:stretch>
        </p:blipFill>
        <p:spPr>
          <a:xfrm>
            <a:off x="6381571" y="4435435"/>
            <a:ext cx="272177" cy="272177"/>
          </a:xfrm>
          <a:prstGeom prst="rect">
            <a:avLst/>
          </a:prstGeom>
        </p:spPr>
      </p:pic>
      <p:sp>
        <p:nvSpPr>
          <p:cNvPr id="15" name="Text 6"/>
          <p:cNvSpPr/>
          <p:nvPr/>
        </p:nvSpPr>
        <p:spPr>
          <a:xfrm>
            <a:off x="4942642" y="513849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Low confidence</a:t>
            </a:r>
            <a:endParaRPr lang="en-US" sz="2200" dirty="0"/>
          </a:p>
        </p:txBody>
      </p:sp>
      <p:sp>
        <p:nvSpPr>
          <p:cNvPr id="16" name="Text 7"/>
          <p:cNvSpPr/>
          <p:nvPr/>
        </p:nvSpPr>
        <p:spPr>
          <a:xfrm>
            <a:off x="4942642" y="5628918"/>
            <a:ext cx="3150275" cy="1088708"/>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Include warning and suggest manual review or sensor recheck</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93790" y="1311354"/>
            <a:ext cx="4205168" cy="5606891"/>
          </a:xfrm>
          <a:prstGeom prst="rect">
            <a:avLst/>
          </a:prstGeom>
        </p:spPr>
      </p:pic>
      <p:sp>
        <p:nvSpPr>
          <p:cNvPr id="3" name="Text 0"/>
          <p:cNvSpPr/>
          <p:nvPr/>
        </p:nvSpPr>
        <p:spPr>
          <a:xfrm>
            <a:off x="5559981" y="1875234"/>
            <a:ext cx="6625114" cy="566976"/>
          </a:xfrm>
          <a:prstGeom prst="rect">
            <a:avLst/>
          </a:prstGeom>
          <a:noFill/>
          <a:ln/>
        </p:spPr>
        <p:txBody>
          <a:bodyPr wrap="none" lIns="0" tIns="0" rIns="0" bIns="0" rtlCol="0" anchor="t"/>
          <a:lstStyle/>
          <a:p>
            <a:pPr marL="0" indent="0" algn="l">
              <a:lnSpc>
                <a:spcPts val="4450"/>
              </a:lnSpc>
              <a:buNone/>
            </a:pPr>
            <a:r>
              <a:rPr lang="en-US" sz="3550" dirty="0">
                <a:solidFill>
                  <a:srgbClr val="76B9FF"/>
                </a:solidFill>
                <a:latin typeface="Roboto Slab" pitchFamily="34" charset="0"/>
                <a:ea typeface="Roboto Slab" pitchFamily="34" charset="-122"/>
                <a:cs typeface="Roboto Slab" pitchFamily="34" charset="-120"/>
              </a:rPr>
              <a:t>Phase 8 — Testing &amp; Debugging</a:t>
            </a:r>
            <a:endParaRPr lang="en-US" sz="3550" dirty="0"/>
          </a:p>
        </p:txBody>
      </p:sp>
      <p:sp>
        <p:nvSpPr>
          <p:cNvPr id="4" name="Text 1"/>
          <p:cNvSpPr/>
          <p:nvPr/>
        </p:nvSpPr>
        <p:spPr>
          <a:xfrm>
            <a:off x="5559981" y="2669024"/>
            <a:ext cx="8284131" cy="2778204"/>
          </a:xfrm>
          <a:prstGeom prst="rect">
            <a:avLst/>
          </a:prstGeom>
          <a:noFill/>
          <a:ln/>
        </p:spPr>
        <p:txBody>
          <a:bodyPr wrap="square" lIns="0" tIns="0" rIns="0" bIns="0" rtlCol="0" anchor="t"/>
          <a:lstStyle/>
          <a:p>
            <a:pPr marL="342900" indent="-342900" algn="l">
              <a:lnSpc>
                <a:spcPts val="2850"/>
              </a:lnSpc>
              <a:buSzPct val="100000"/>
              <a:buFont typeface="+mj-lt"/>
              <a:buAutoNum type="arabicPeriod"/>
            </a:pPr>
            <a:r>
              <a:rPr lang="en-US" sz="1750" dirty="0">
                <a:solidFill>
                  <a:srgbClr val="D6E5EF"/>
                </a:solidFill>
                <a:latin typeface="Roboto" pitchFamily="34" charset="0"/>
                <a:ea typeface="Roboto" pitchFamily="34" charset="-122"/>
                <a:cs typeface="Roboto" pitchFamily="34" charset="-120"/>
              </a:rPr>
              <a:t>Fixed NaN/∞ checks by restricting to numeric dtypes only.</a:t>
            </a:r>
            <a:endParaRPr lang="en-US" sz="1750" dirty="0"/>
          </a:p>
          <a:p>
            <a:pPr marL="342900" indent="-342900" algn="l">
              <a:lnSpc>
                <a:spcPts val="2850"/>
              </a:lnSpc>
              <a:buSzPct val="100000"/>
              <a:buFont typeface="+mj-lt"/>
              <a:buAutoNum type="arabicPeriod" startAt="2"/>
            </a:pPr>
            <a:r>
              <a:rPr lang="en-US" sz="1750" dirty="0">
                <a:solidFill>
                  <a:srgbClr val="D6E5EF"/>
                </a:solidFill>
                <a:latin typeface="Roboto" pitchFamily="34" charset="0"/>
                <a:ea typeface="Roboto" pitchFamily="34" charset="-122"/>
                <a:cs typeface="Roboto" pitchFamily="34" charset="-120"/>
              </a:rPr>
              <a:t>Resolved scaler feature mismatch by reading scaler.feature_names_in_ and building scaling subframe.</a:t>
            </a:r>
            <a:endParaRPr lang="en-US" sz="1750" dirty="0"/>
          </a:p>
          <a:p>
            <a:pPr marL="342900" indent="-342900" algn="l">
              <a:lnSpc>
                <a:spcPts val="2850"/>
              </a:lnSpc>
              <a:buSzPct val="100000"/>
              <a:buFont typeface="+mj-lt"/>
              <a:buAutoNum type="arabicPeriod" startAt="3"/>
            </a:pPr>
            <a:r>
              <a:rPr lang="en-US" sz="1750" dirty="0">
                <a:solidFill>
                  <a:srgbClr val="D6E5EF"/>
                </a:solidFill>
                <a:latin typeface="Roboto" pitchFamily="34" charset="0"/>
                <a:ea typeface="Roboto" pitchFamily="34" charset="-122"/>
                <a:cs typeface="Roboto" pitchFamily="34" charset="-120"/>
              </a:rPr>
              <a:t>Maintained full 20-feature input to model: scaled 12 numeric, keep encoded categoricals.</a:t>
            </a:r>
            <a:endParaRPr lang="en-US" sz="1750" dirty="0"/>
          </a:p>
          <a:p>
            <a:pPr marL="342900" indent="-342900" algn="l">
              <a:lnSpc>
                <a:spcPts val="2850"/>
              </a:lnSpc>
              <a:buSzPct val="100000"/>
              <a:buFont typeface="+mj-lt"/>
              <a:buAutoNum type="arabicPeriod" startAt="4"/>
            </a:pPr>
            <a:r>
              <a:rPr lang="en-US" sz="1750" dirty="0">
                <a:solidFill>
                  <a:srgbClr val="D6E5EF"/>
                </a:solidFill>
                <a:latin typeface="Roboto" pitchFamily="34" charset="0"/>
                <a:ea typeface="Roboto" pitchFamily="34" charset="-122"/>
                <a:cs typeface="Roboto" pitchFamily="34" charset="-120"/>
              </a:rPr>
              <a:t>Converted numpy types to native Python for JSON serialisation (np.int64 → int).</a:t>
            </a:r>
            <a:endParaRPr lang="en-US" sz="1750" dirty="0"/>
          </a:p>
        </p:txBody>
      </p:sp>
      <p:sp>
        <p:nvSpPr>
          <p:cNvPr id="5" name="Text 2"/>
          <p:cNvSpPr/>
          <p:nvPr/>
        </p:nvSpPr>
        <p:spPr>
          <a:xfrm>
            <a:off x="5559981" y="5651302"/>
            <a:ext cx="8284131"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After fixes, end‑to‑end tests produced stable predictions, consistent confidences and clean logs.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45569" y="642938"/>
            <a:ext cx="6676192" cy="532448"/>
          </a:xfrm>
          <a:prstGeom prst="rect">
            <a:avLst/>
          </a:prstGeom>
          <a:noFill/>
          <a:ln/>
        </p:spPr>
        <p:txBody>
          <a:bodyPr wrap="none" lIns="0" tIns="0" rIns="0" bIns="0" rtlCol="0" anchor="t"/>
          <a:lstStyle/>
          <a:p>
            <a:pPr marL="0" indent="0" algn="l">
              <a:lnSpc>
                <a:spcPts val="4150"/>
              </a:lnSpc>
              <a:buNone/>
            </a:pPr>
            <a:r>
              <a:rPr lang="en-US" sz="3350" dirty="0">
                <a:solidFill>
                  <a:srgbClr val="76B9FF"/>
                </a:solidFill>
                <a:latin typeface="Roboto Slab" pitchFamily="34" charset="0"/>
                <a:ea typeface="Roboto Slab" pitchFamily="34" charset="-122"/>
                <a:cs typeface="Roboto Slab" pitchFamily="34" charset="-120"/>
              </a:rPr>
              <a:t>Phase 9 — Deployment Readiness</a:t>
            </a:r>
            <a:endParaRPr lang="en-US" sz="3350" dirty="0"/>
          </a:p>
        </p:txBody>
      </p:sp>
      <p:sp>
        <p:nvSpPr>
          <p:cNvPr id="4" name="Text 1"/>
          <p:cNvSpPr/>
          <p:nvPr/>
        </p:nvSpPr>
        <p:spPr>
          <a:xfrm>
            <a:off x="745569" y="1475423"/>
            <a:ext cx="7652861" cy="1651992"/>
          </a:xfrm>
          <a:prstGeom prst="rect">
            <a:avLst/>
          </a:prstGeom>
          <a:noFill/>
          <a:ln/>
        </p:spPr>
        <p:txBody>
          <a:bodyPr wrap="square" lIns="0" tIns="0" rIns="0" bIns="0" rtlCol="0" anchor="t"/>
          <a:lstStyle/>
          <a:p>
            <a:pPr marL="0" indent="0" algn="l">
              <a:lnSpc>
                <a:spcPts val="2600"/>
              </a:lnSpc>
              <a:buNone/>
            </a:pPr>
            <a:r>
              <a:rPr lang="en-US" sz="1650" dirty="0">
                <a:solidFill>
                  <a:srgbClr val="D6E5EF"/>
                </a:solidFill>
                <a:latin typeface="Roboto" pitchFamily="34" charset="0"/>
                <a:ea typeface="Roboto" pitchFamily="34" charset="-122"/>
                <a:cs typeface="Roboto" pitchFamily="34" charset="-120"/>
              </a:rPr>
              <a:t>Code is production-ready: env-driven config, structured logs, and health checks. Recommend Render or Railway. Deployment checklist: push to GitHub, add gunicorn to requirements, set env vars on platform, deploy, update CORS to production origin. Share live URL with frontend team to switch from mock to real API.</a:t>
            </a:r>
            <a:endParaRPr lang="en-US" sz="1650" dirty="0"/>
          </a:p>
        </p:txBody>
      </p:sp>
      <p:sp>
        <p:nvSpPr>
          <p:cNvPr id="5" name="Shape 2"/>
          <p:cNvSpPr/>
          <p:nvPr/>
        </p:nvSpPr>
        <p:spPr>
          <a:xfrm>
            <a:off x="745569" y="3352443"/>
            <a:ext cx="852011" cy="1278017"/>
          </a:xfrm>
          <a:prstGeom prst="roundRect">
            <a:avLst>
              <a:gd name="adj" fmla="val 360031"/>
            </a:avLst>
          </a:prstGeom>
          <a:solidFill>
            <a:srgbClr val="3F4652"/>
          </a:solidFill>
          <a:ln/>
        </p:spPr>
      </p:sp>
      <p:pic>
        <p:nvPicPr>
          <p:cNvPr id="6" name="Image 1"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1011793" y="3831669"/>
            <a:ext cx="319445" cy="319445"/>
          </a:xfrm>
          <a:prstGeom prst="rect">
            <a:avLst/>
          </a:prstGeom>
        </p:spPr>
      </p:pic>
      <p:sp>
        <p:nvSpPr>
          <p:cNvPr id="7" name="Text 3"/>
          <p:cNvSpPr/>
          <p:nvPr/>
        </p:nvSpPr>
        <p:spPr>
          <a:xfrm>
            <a:off x="1797606" y="3565446"/>
            <a:ext cx="2662714" cy="332780"/>
          </a:xfrm>
          <a:prstGeom prst="rect">
            <a:avLst/>
          </a:prstGeom>
          <a:noFill/>
          <a:ln/>
        </p:spPr>
        <p:txBody>
          <a:bodyPr wrap="none" lIns="0" tIns="0" rIns="0" bIns="0" rtlCol="0" anchor="t"/>
          <a:lstStyle/>
          <a:p>
            <a:pPr marL="0" indent="0" algn="l">
              <a:lnSpc>
                <a:spcPts val="2600"/>
              </a:lnSpc>
              <a:buNone/>
            </a:pPr>
            <a:r>
              <a:rPr lang="en-US" sz="2050" dirty="0">
                <a:solidFill>
                  <a:srgbClr val="D6E5EF"/>
                </a:solidFill>
                <a:latin typeface="Roboto Slab" pitchFamily="34" charset="0"/>
                <a:ea typeface="Roboto Slab" pitchFamily="34" charset="-122"/>
                <a:cs typeface="Roboto Slab" pitchFamily="34" charset="-120"/>
              </a:rPr>
              <a:t>1. Git</a:t>
            </a:r>
            <a:endParaRPr lang="en-US" sz="2050" dirty="0"/>
          </a:p>
        </p:txBody>
      </p:sp>
      <p:sp>
        <p:nvSpPr>
          <p:cNvPr id="8" name="Text 4"/>
          <p:cNvSpPr/>
          <p:nvPr/>
        </p:nvSpPr>
        <p:spPr>
          <a:xfrm>
            <a:off x="1797606" y="4018240"/>
            <a:ext cx="6600825" cy="330398"/>
          </a:xfrm>
          <a:prstGeom prst="rect">
            <a:avLst/>
          </a:prstGeom>
          <a:noFill/>
          <a:ln/>
        </p:spPr>
        <p:txBody>
          <a:bodyPr wrap="none" lIns="0" tIns="0" rIns="0" bIns="0" rtlCol="0" anchor="t"/>
          <a:lstStyle/>
          <a:p>
            <a:pPr marL="0" indent="0" algn="l">
              <a:lnSpc>
                <a:spcPts val="2600"/>
              </a:lnSpc>
              <a:buNone/>
            </a:pPr>
            <a:r>
              <a:rPr lang="en-US" sz="1650" dirty="0">
                <a:solidFill>
                  <a:srgbClr val="D6E5EF"/>
                </a:solidFill>
                <a:latin typeface="Roboto" pitchFamily="34" charset="0"/>
                <a:ea typeface="Roboto" pitchFamily="34" charset="-122"/>
                <a:cs typeface="Roboto" pitchFamily="34" charset="-120"/>
              </a:rPr>
              <a:t>Push main and tag release</a:t>
            </a:r>
            <a:endParaRPr lang="en-US" sz="1650" dirty="0"/>
          </a:p>
        </p:txBody>
      </p:sp>
      <p:sp>
        <p:nvSpPr>
          <p:cNvPr id="9" name="Shape 5"/>
          <p:cNvSpPr/>
          <p:nvPr/>
        </p:nvSpPr>
        <p:spPr>
          <a:xfrm>
            <a:off x="745569" y="4830485"/>
            <a:ext cx="852011" cy="1278017"/>
          </a:xfrm>
          <a:prstGeom prst="roundRect">
            <a:avLst>
              <a:gd name="adj" fmla="val 360031"/>
            </a:avLst>
          </a:prstGeom>
          <a:solidFill>
            <a:srgbClr val="3F4652"/>
          </a:solidFill>
          <a:ln/>
        </p:spPr>
      </p:sp>
      <p:pic>
        <p:nvPicPr>
          <p:cNvPr id="10" name="Image 2" descr="preencoded.png"/>
          <p:cNvPicPr>
            <a:picLocks noChangeAspect="1"/>
          </p:cNvPicPr>
          <p:nvPr/>
        </p:nvPicPr>
        <p:blipFill>
          <a:blip r:embed="rId4">
            <a:extLst>
              <a:ext uri="{96DAC541-7B7A-43D3-8B79-37D633B846F1}">
                <asvg:svgBlip xmlns:asvg="http://schemas.microsoft.com/office/drawing/2016/SVG/main" xmlns="" r:embed="rId6"/>
              </a:ext>
            </a:extLst>
          </a:blip>
          <a:stretch>
            <a:fillRect/>
          </a:stretch>
        </p:blipFill>
        <p:spPr>
          <a:xfrm>
            <a:off x="1011793" y="5309711"/>
            <a:ext cx="319445" cy="319445"/>
          </a:xfrm>
          <a:prstGeom prst="rect">
            <a:avLst/>
          </a:prstGeom>
        </p:spPr>
      </p:pic>
      <p:sp>
        <p:nvSpPr>
          <p:cNvPr id="11" name="Text 6"/>
          <p:cNvSpPr/>
          <p:nvPr/>
        </p:nvSpPr>
        <p:spPr>
          <a:xfrm>
            <a:off x="1797606" y="5043488"/>
            <a:ext cx="2662714" cy="332780"/>
          </a:xfrm>
          <a:prstGeom prst="rect">
            <a:avLst/>
          </a:prstGeom>
          <a:noFill/>
          <a:ln/>
        </p:spPr>
        <p:txBody>
          <a:bodyPr wrap="none" lIns="0" tIns="0" rIns="0" bIns="0" rtlCol="0" anchor="t"/>
          <a:lstStyle/>
          <a:p>
            <a:pPr marL="0" indent="0" algn="l">
              <a:lnSpc>
                <a:spcPts val="2600"/>
              </a:lnSpc>
              <a:buNone/>
            </a:pPr>
            <a:r>
              <a:rPr lang="en-US" sz="2050" dirty="0">
                <a:solidFill>
                  <a:srgbClr val="D6E5EF"/>
                </a:solidFill>
                <a:latin typeface="Roboto Slab" pitchFamily="34" charset="0"/>
                <a:ea typeface="Roboto Slab" pitchFamily="34" charset="-122"/>
                <a:cs typeface="Roboto Slab" pitchFamily="34" charset="-120"/>
              </a:rPr>
              <a:t>2. Runtime</a:t>
            </a:r>
            <a:endParaRPr lang="en-US" sz="2050" dirty="0"/>
          </a:p>
        </p:txBody>
      </p:sp>
      <p:sp>
        <p:nvSpPr>
          <p:cNvPr id="12" name="Text 7"/>
          <p:cNvSpPr/>
          <p:nvPr/>
        </p:nvSpPr>
        <p:spPr>
          <a:xfrm>
            <a:off x="1797606" y="5496282"/>
            <a:ext cx="6600825" cy="330398"/>
          </a:xfrm>
          <a:prstGeom prst="rect">
            <a:avLst/>
          </a:prstGeom>
          <a:noFill/>
          <a:ln/>
        </p:spPr>
        <p:txBody>
          <a:bodyPr wrap="none" lIns="0" tIns="0" rIns="0" bIns="0" rtlCol="0" anchor="t"/>
          <a:lstStyle/>
          <a:p>
            <a:pPr marL="0" indent="0" algn="l">
              <a:lnSpc>
                <a:spcPts val="2600"/>
              </a:lnSpc>
              <a:buNone/>
            </a:pPr>
            <a:r>
              <a:rPr lang="en-US" sz="1650" dirty="0">
                <a:solidFill>
                  <a:srgbClr val="D6E5EF"/>
                </a:solidFill>
                <a:latin typeface="Roboto" pitchFamily="34" charset="0"/>
                <a:ea typeface="Roboto" pitchFamily="34" charset="-122"/>
                <a:cs typeface="Roboto" pitchFamily="34" charset="-120"/>
              </a:rPr>
              <a:t>Use gunicorn, set workers based on CPU</a:t>
            </a:r>
            <a:endParaRPr lang="en-US" sz="1650" dirty="0"/>
          </a:p>
        </p:txBody>
      </p:sp>
      <p:sp>
        <p:nvSpPr>
          <p:cNvPr id="13" name="Shape 8"/>
          <p:cNvSpPr/>
          <p:nvPr/>
        </p:nvSpPr>
        <p:spPr>
          <a:xfrm>
            <a:off x="745569" y="6308527"/>
            <a:ext cx="852011" cy="1278017"/>
          </a:xfrm>
          <a:prstGeom prst="roundRect">
            <a:avLst>
              <a:gd name="adj" fmla="val 360031"/>
            </a:avLst>
          </a:prstGeom>
          <a:solidFill>
            <a:srgbClr val="3F4652"/>
          </a:solidFill>
          <a:ln/>
        </p:spPr>
      </p:sp>
      <p:pic>
        <p:nvPicPr>
          <p:cNvPr id="14" name="Image 3" descr="preencoded.png"/>
          <p:cNvPicPr>
            <a:picLocks noChangeAspect="1"/>
          </p:cNvPicPr>
          <p:nvPr/>
        </p:nvPicPr>
        <p:blipFill>
          <a:blip r:embed="rId4">
            <a:extLst>
              <a:ext uri="{96DAC541-7B7A-43D3-8B79-37D633B846F1}">
                <asvg:svgBlip xmlns:asvg="http://schemas.microsoft.com/office/drawing/2016/SVG/main" xmlns="" r:embed="rId7"/>
              </a:ext>
            </a:extLst>
          </a:blip>
          <a:stretch>
            <a:fillRect/>
          </a:stretch>
        </p:blipFill>
        <p:spPr>
          <a:xfrm>
            <a:off x="1011793" y="6787753"/>
            <a:ext cx="319445" cy="319445"/>
          </a:xfrm>
          <a:prstGeom prst="rect">
            <a:avLst/>
          </a:prstGeom>
        </p:spPr>
      </p:pic>
      <p:sp>
        <p:nvSpPr>
          <p:cNvPr id="15" name="Text 9"/>
          <p:cNvSpPr/>
          <p:nvPr/>
        </p:nvSpPr>
        <p:spPr>
          <a:xfrm>
            <a:off x="1797606" y="6521529"/>
            <a:ext cx="2662714" cy="332780"/>
          </a:xfrm>
          <a:prstGeom prst="rect">
            <a:avLst/>
          </a:prstGeom>
          <a:noFill/>
          <a:ln/>
        </p:spPr>
        <p:txBody>
          <a:bodyPr wrap="none" lIns="0" tIns="0" rIns="0" bIns="0" rtlCol="0" anchor="t"/>
          <a:lstStyle/>
          <a:p>
            <a:pPr marL="0" indent="0" algn="l">
              <a:lnSpc>
                <a:spcPts val="2600"/>
              </a:lnSpc>
              <a:buNone/>
            </a:pPr>
            <a:r>
              <a:rPr lang="en-US" sz="2050" dirty="0">
                <a:solidFill>
                  <a:srgbClr val="D6E5EF"/>
                </a:solidFill>
                <a:latin typeface="Roboto Slab" pitchFamily="34" charset="0"/>
                <a:ea typeface="Roboto Slab" pitchFamily="34" charset="-122"/>
                <a:cs typeface="Roboto Slab" pitchFamily="34" charset="-120"/>
              </a:rPr>
              <a:t>3. Secrets</a:t>
            </a:r>
            <a:endParaRPr lang="en-US" sz="2050" dirty="0"/>
          </a:p>
        </p:txBody>
      </p:sp>
      <p:sp>
        <p:nvSpPr>
          <p:cNvPr id="16" name="Text 10"/>
          <p:cNvSpPr/>
          <p:nvPr/>
        </p:nvSpPr>
        <p:spPr>
          <a:xfrm>
            <a:off x="1797606" y="6974324"/>
            <a:ext cx="6600825" cy="330398"/>
          </a:xfrm>
          <a:prstGeom prst="rect">
            <a:avLst/>
          </a:prstGeom>
          <a:noFill/>
          <a:ln/>
        </p:spPr>
        <p:txBody>
          <a:bodyPr wrap="none" lIns="0" tIns="0" rIns="0" bIns="0" rtlCol="0" anchor="t"/>
          <a:lstStyle/>
          <a:p>
            <a:pPr marL="0" indent="0" algn="l">
              <a:lnSpc>
                <a:spcPts val="2600"/>
              </a:lnSpc>
              <a:buNone/>
            </a:pPr>
            <a:r>
              <a:rPr lang="en-US" sz="1650" dirty="0">
                <a:solidFill>
                  <a:srgbClr val="D6E5EF"/>
                </a:solidFill>
                <a:latin typeface="Roboto" pitchFamily="34" charset="0"/>
                <a:ea typeface="Roboto" pitchFamily="34" charset="-122"/>
                <a:cs typeface="Roboto" pitchFamily="34" charset="-120"/>
              </a:rPr>
              <a:t>Set env vars, restrict CORS, enable logging retention</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743</Words>
  <Application>Microsoft Office PowerPoint</Application>
  <PresentationFormat>Custom</PresentationFormat>
  <Paragraphs>68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Roboto Slab</vt:lpstr>
      <vt:lpstr>Roboto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NGABONZIZA Kim Gakuba</dc:creator>
  <cp:lastModifiedBy>KIM</cp:lastModifiedBy>
  <cp:revision>2</cp:revision>
  <dcterms:created xsi:type="dcterms:W3CDTF">2026-02-23T10:28:26Z</dcterms:created>
  <dcterms:modified xsi:type="dcterms:W3CDTF">2026-02-23T09:29:09Z</dcterms:modified>
</cp:coreProperties>
</file>